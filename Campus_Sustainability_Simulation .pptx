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19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09728"/>
            <a:ext cx="2560320" cy="49240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548640"/>
            <a:ext cx="1920240" cy="1920240"/>
          </a:xfrm>
          <a:prstGeom prst="ellipse">
            <a:avLst/>
          </a:prstGeom>
          <a:solidFill>
            <a:srgbClr val="52B788">
              <a:alpha val="6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914400"/>
            <a:ext cx="1371600" cy="1371600"/>
          </a:xfrm>
          <a:prstGeom prst="ellipse">
            <a:avLst/>
          </a:prstGeom>
          <a:solidFill>
            <a:srgbClr val="95D5B2">
              <a:alpha val="70000"/>
            </a:srgbClr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3017520"/>
            <a:ext cx="182880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017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HACKATHON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0" y="35478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Theme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0" y="38404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Goals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Campus Sustainability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" y="1115568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Simulation Engine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57200" y="1755648"/>
            <a:ext cx="54864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8745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Digital Twin for Smart Campus Decision Making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8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Campus Administrators Face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82296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campuses function as micro-cities with significant consumption of electricity, water, and food resources.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03120"/>
            <a:ext cx="2651760" cy="4114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03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Visibility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60604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Campuses lack visibility into their sustainability impact across departments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1031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103120"/>
            <a:ext cx="2651760" cy="4114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103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Blind Decisions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260604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taken without measurable consequences or predictive modeling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21031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2103120"/>
            <a:ext cx="2651760" cy="4114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103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Tools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44768" y="260604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simulation tools exist to help administrators plan sustainability policies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Reactive rather than proactive sustainability planning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Sustainability Policy Simulation Engine | SDG Digital Twin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Sustainability Decision Platform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88720"/>
            <a:ext cx="4114800" cy="37033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37160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Campus Sustainability Policy Simulation Engine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sustainability decision-making into a data-driven, evidence-based process.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280160"/>
            <a:ext cx="4480560" cy="105156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3441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Digital Twin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171907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resource systems modeled as a live, evolving digital replica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2468880"/>
            <a:ext cx="4480560" cy="105156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5328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Policy Simulation Engine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90779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interventions across energy, water, and waste in a safe virtual environment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3657600"/>
            <a:ext cx="4480560" cy="105156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7216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Real-time Visualization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409651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metrics displayed as dynamic dashboards for decision makers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Sustainability Policy Simulation Engine | SDG Digital Twin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8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Systems Modeled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High-Impact Campus Resource Domains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Consumption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633472"/>
            <a:ext cx="2377440" cy="274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706624"/>
            <a:ext cx="24323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usage, HVAC, lighting, lab equipment. Baseline &amp; optimized scenarios modeled.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DA8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280160"/>
            <a:ext cx="2651760" cy="73152"/>
          </a:xfrm>
          <a:prstGeom prst="rect">
            <a:avLst/>
          </a:prstGeom>
          <a:solidFill>
            <a:srgbClr val="4DA8DA"/>
          </a:solidFill>
          <a:ln w="12700">
            <a:solidFill>
              <a:srgbClr val="4DA8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417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💧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83280" y="2103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 Usage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29000" y="2633472"/>
            <a:ext cx="2377440" cy="27432"/>
          </a:xfrm>
          <a:prstGeom prst="rect">
            <a:avLst/>
          </a:prstGeom>
          <a:solidFill>
            <a:srgbClr val="4DA8DA"/>
          </a:solidFill>
          <a:ln w="12700">
            <a:solidFill>
              <a:srgbClr val="4DA8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2706624"/>
            <a:ext cx="24323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Irrigation, plumbing, cooling towers. Rainwater harvesting and reuse tracking.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280160"/>
            <a:ext cx="265176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417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🍃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217920" y="2103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 &amp; Waste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2633472"/>
            <a:ext cx="2377440" cy="274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2706624"/>
            <a:ext cx="24323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Cafeteria waste, composting systems, food-to-waste ratios and diversion rates.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domains represent the highest sustainability impact areas on any campus.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Sustainability Policy Simulation Engine | SDG Digital Twin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System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Simulation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94560" y="2496312"/>
            <a:ext cx="274320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1737360" cy="128016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74320" y="2743200"/>
            <a:ext cx="182880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743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Init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200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data initialization with real consumption metrics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2496312"/>
            <a:ext cx="274320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371600"/>
            <a:ext cx="1737360" cy="128016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3716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2423160" y="2743200"/>
            <a:ext cx="182880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2743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Select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3200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makers choose from a library of sustainability interventions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2496312"/>
            <a:ext cx="274320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371600"/>
            <a:ext cx="1737360" cy="128016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3716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4572000" y="2743200"/>
            <a:ext cx="182880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743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 Run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3200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projection engine runs scenarios forward in time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1371600"/>
            <a:ext cx="1737360" cy="128016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13716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6720840" y="2743200"/>
            <a:ext cx="182880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2743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Output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20840" y="3200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generated: cost savings, carbon reduction, resource efficiency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754880"/>
            <a:ext cx="9144000" cy="1828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451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enables predictive sustainability analysis — before changes are made in the real world.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Sustainability Policy Simulation Engine | SDG Digital Twin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8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Decision-Support Environment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91440" cy="1645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898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🔀  What-If 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8470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multiple policy combinations and explore outcomes without real-world risk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280160"/>
            <a:ext cx="91440" cy="1645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3898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 Budget vs. Sustainability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4608" y="18470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modeling to balance financial constraints against eco-impact goals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108960"/>
            <a:ext cx="91440" cy="1645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2186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Dynamic Scoring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36758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sustainability score computation based on combined policy effects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108960"/>
            <a:ext cx="91440" cy="1645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2186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🎲  Randomized Events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64608" y="36758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campus events inject realism — weather extremes, budget shocks, demand spikes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Sustainability Policy Simulation Engine | SDG Digital Twin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Policies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Interventions with Measurable Outcomes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155448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45920"/>
            <a:ext cx="777240" cy="7772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☀️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4173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Installation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8470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30–45% electricity cost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2240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7 &amp; 13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4114800" cy="155448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645920"/>
            <a:ext cx="777240" cy="7772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645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🌧️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06440" y="14173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Rainwater Harvesting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6440" y="18470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25–35% water usage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06440" y="2240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6 &amp; 12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4114800" cy="155448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383280"/>
            <a:ext cx="777240" cy="7772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83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♻️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17320" y="3154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Composting System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35844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40% organic waste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3977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 &amp; 15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063240"/>
            <a:ext cx="4114800" cy="155448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3383280"/>
            <a:ext cx="777240" cy="7772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383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🔋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806440" y="3154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Energy Scheduling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06440" y="35844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20% peak demand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06440" y="3977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7 &amp; 11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policy generates measurable outcomes across cost, carbon, and resource efficiency dimensions.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Sustainability Policy Simulation Engine | SDG Digital Twin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8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Modular System Architecture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749808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1280160"/>
            <a:ext cx="5212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UI for policy selection, scenario management &amp; result display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8046720" cy="7498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9456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 Backend Engine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2194560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 for year-over-year resource projection, policy effects computation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7680960" cy="7498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0896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Modeling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3108960"/>
            <a:ext cx="4480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baseline models, sustainability metrics, event simulation modules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023360"/>
            <a:ext cx="7315200" cy="749808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02336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Visualization &amp; Analytics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4023360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KPI dashboards, trend analysis, before/after comparisons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Sustainability Policy Simulation Engine | SDG Digital Twin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SDG Alignment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to United Nations Sustainable Development Goals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325880"/>
            <a:ext cx="1645920" cy="1645920"/>
          </a:xfrm>
          <a:prstGeom prst="ellipse">
            <a:avLst/>
          </a:prstGeom>
          <a:solidFill>
            <a:srgbClr val="F99D26"/>
          </a:solidFill>
          <a:ln w="12700">
            <a:solidFill>
              <a:srgbClr val="F99D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4173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Sustainable Cities &amp; Communities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Campuses model the city of tomorrow — efficient, connected, and green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94760" y="1325880"/>
            <a:ext cx="1645920" cy="1645920"/>
          </a:xfrm>
          <a:prstGeom prst="ellipse">
            <a:avLst/>
          </a:prstGeom>
          <a:solidFill>
            <a:srgbClr val="CF8D2A"/>
          </a:solidFill>
          <a:ln w="12700">
            <a:solidFill>
              <a:srgbClr val="CF8D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4173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94760" y="18745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337560" y="3063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 Consumption &amp; Production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7033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energy, water, food — reducing waste at every level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29400" y="1325880"/>
            <a:ext cx="1645920" cy="1645920"/>
          </a:xfrm>
          <a:prstGeom prst="ellipse">
            <a:avLst/>
          </a:prstGeom>
          <a:solidFill>
            <a:srgbClr val="48773C"/>
          </a:solidFill>
          <a:ln w="12700">
            <a:solidFill>
              <a:srgbClr val="4877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4173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9400" y="18745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172200" y="3063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Climate Action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37033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reduction modeling and long-term emission trajectory simulation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164592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Sustainability Policy Simulation Engine | SDG Digital Twin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8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&amp; Benefits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Sustainability and Technology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27632"/>
            <a:ext cx="685800" cy="68580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276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38988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Data-Driven Decisions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8288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guesswork with evidence-based policy making powered by simulation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627632"/>
            <a:ext cx="685800" cy="68580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6276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623560" y="138988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 Optimization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23560" y="18288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efficiency across energy, water, and waste management systems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410712"/>
            <a:ext cx="685800" cy="68580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107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317296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Awareness &amp; Education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611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campus communities in sustainability literacy and responsible behavior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0632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3410712"/>
            <a:ext cx="685800" cy="68580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4107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23560" y="317296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Scalable Framework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23560" y="3611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extends to multi-campus benchmarking and smart city integration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Sustainability Policy Simulation Engine | SDG Digital Twin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Intelligent Sustainability Ecosystems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1560" y="1417320"/>
            <a:ext cx="54864" cy="32004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35608"/>
            <a:ext cx="411480" cy="4114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35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17320" y="1389888"/>
            <a:ext cx="7132320" cy="713232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42646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Integration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1755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sensor data feeds into the simulation for live, dynamic modeling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03720" y="1517904"/>
            <a:ext cx="146304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151790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2258568"/>
            <a:ext cx="411480" cy="4114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258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417320" y="2212848"/>
            <a:ext cx="7132320" cy="713232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2249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 Campus Datasets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25786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using real university resource data for accurate baseline modeling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2340864"/>
            <a:ext cx="146304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234086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3081528"/>
            <a:ext cx="411480" cy="4114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081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&gt;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417320" y="3035808"/>
            <a:ext cx="7132320" cy="713232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4480" y="30723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Policy Recommender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34015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engine suggests optimal policy bundles based on campus goals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03720" y="3163824"/>
            <a:ext cx="1463040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316382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68680" y="3904488"/>
            <a:ext cx="411480" cy="4114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9044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&gt;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417320" y="3858768"/>
            <a:ext cx="7132320" cy="713232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4480" y="38953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Multi-Campus Benchmarking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54480" y="42245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sustainability performance across institutions and geographies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03720" y="3986784"/>
            <a:ext cx="1463040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398678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Sustainability Policy Simulation Engine | SDG Digital Twin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2926080" cy="49240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31520"/>
            <a:ext cx="2286000" cy="2286000"/>
          </a:xfrm>
          <a:prstGeom prst="ellipse">
            <a:avLst/>
          </a:prstGeom>
          <a:solidFill>
            <a:srgbClr val="52B788">
              <a:alpha val="5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1463040" cy="1463040"/>
          </a:xfrm>
          <a:prstGeom prst="ellipse">
            <a:avLst/>
          </a:prstGeom>
          <a:solidFill>
            <a:srgbClr val="95D5B2">
              <a:alpha val="65000"/>
            </a:srgbClr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087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🌿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200400" y="41148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320040" cy="3200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1887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sustainability from theory to simulation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2240280"/>
            <a:ext cx="320040" cy="3200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1945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informed campus policy decisions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3246120"/>
            <a:ext cx="320040" cy="3200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32004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institutions to adopt proactive sustainability strategies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0" y="4023360"/>
            <a:ext cx="5577840" cy="5943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402336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4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Towards Smarter, Greener Campuses 🌱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00400" y="468172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Pratika  |  24BCE5447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am Introduction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2B788"/>
          </a:solidFill>
        </p:spPr>
      </p:sp>
      <p:sp>
        <p:nvSpPr>
          <p:cNvPr id="3" name="BottomBar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52B788"/>
          </a:solidFill>
        </p:spPr>
      </p:sp>
      <p:sp>
        <p:nvSpPr>
          <p:cNvPr id="4" name="Title"/>
          <p:cNvSpPr/>
          <p:nvPr/>
        </p:nvSpPr>
        <p:spPr>
          <a:xfrm>
            <a:off x="457200" y="200000"/>
            <a:ext cx="82296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</a:rPr>
              <a:t>Team </a:t>
            </a:r>
            <a:r>
              <a:rPr lang="en-US" sz="2800" b="1" dirty="0">
                <a:solidFill>
                  <a:srgbClr val="52B788"/>
                </a:solidFill>
                <a:latin typeface="Trebuchet MS" pitchFamily="34" charset="0"/>
              </a:rPr>
              <a:t>Introduction</a:t>
            </a:r>
          </a:p>
        </p:txBody>
      </p:sp>
      <p:sp>
        <p:nvSpPr>
          <p:cNvPr id="5" name="Divider"/>
          <p:cNvSpPr/>
          <p:nvPr/>
        </p:nvSpPr>
        <p:spPr>
          <a:xfrm>
            <a:off x="457200" y="770000"/>
            <a:ext cx="8229600" cy="36000"/>
          </a:xfrm>
          <a:prstGeom prst="rect">
            <a:avLst/>
          </a:prstGeom>
          <a:solidFill>
            <a:srgbClr val="52B788"/>
          </a:solidFill>
        </p:spPr>
      </p:sp>
      <p:sp>
        <p:nvSpPr>
          <p:cNvPr id="10" name="M1Label"/>
          <p:cNvSpPr/>
          <p:nvPr/>
        </p:nvSpPr>
        <p:spPr>
          <a:xfrm>
            <a:off x="457200" y="950000"/>
            <a:ext cx="82296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Pratika</a:t>
            </a:r>
            <a:r>
              <a:rPr lang="en-US" sz="1400" dirty="0">
                <a:solidFill>
                  <a:srgbClr val="95D5B2"/>
                </a:solidFill>
                <a:latin typeface="Calibri" pitchFamily="34" charset="0"/>
              </a:rPr>
              <a:t>    24BCE5447</a:t>
            </a:r>
          </a:p>
        </p:txBody>
      </p:sp>
      <p:sp>
        <p:nvSpPr>
          <p:cNvPr id="11" name="Sep1"/>
          <p:cNvSpPr/>
          <p:nvPr/>
        </p:nvSpPr>
        <p:spPr>
          <a:xfrm>
            <a:off x="457200" y="1360000"/>
            <a:ext cx="8229600" cy="1800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12" name="M2Label"/>
          <p:cNvSpPr/>
          <p:nvPr/>
        </p:nvSpPr>
        <p:spPr>
          <a:xfrm>
            <a:off x="457200" y="1450000"/>
            <a:ext cx="82296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Mohan</a:t>
            </a:r>
            <a:r>
              <a:rPr lang="en-US" sz="1400" dirty="0">
                <a:solidFill>
                  <a:srgbClr val="95D5B2"/>
                </a:solidFill>
                <a:latin typeface="Calibri" pitchFamily="34" charset="0"/>
              </a:rPr>
              <a:t>    24BEC1231</a:t>
            </a:r>
          </a:p>
        </p:txBody>
      </p:sp>
      <p:sp>
        <p:nvSpPr>
          <p:cNvPr id="13" name="Sep2"/>
          <p:cNvSpPr/>
          <p:nvPr/>
        </p:nvSpPr>
        <p:spPr>
          <a:xfrm>
            <a:off x="457200" y="1860000"/>
            <a:ext cx="8229600" cy="1800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14" name="M3Label"/>
          <p:cNvSpPr/>
          <p:nvPr/>
        </p:nvSpPr>
        <p:spPr>
          <a:xfrm>
            <a:off x="457200" y="1950000"/>
            <a:ext cx="82296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Sudharsan</a:t>
            </a:r>
            <a:r>
              <a:rPr lang="en-US" sz="1400" dirty="0">
                <a:solidFill>
                  <a:srgbClr val="95D5B2"/>
                </a:solidFill>
                <a:latin typeface="Calibri" pitchFamily="34" charset="0"/>
              </a:rPr>
              <a:t>    24BCE5043</a:t>
            </a:r>
          </a:p>
        </p:txBody>
      </p:sp>
      <p:sp>
        <p:nvSpPr>
          <p:cNvPr id="15" name="Sep3"/>
          <p:cNvSpPr/>
          <p:nvPr/>
        </p:nvSpPr>
        <p:spPr>
          <a:xfrm>
            <a:off x="457200" y="2360000"/>
            <a:ext cx="8229600" cy="1800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16" name="Institution"/>
          <p:cNvSpPr/>
          <p:nvPr/>
        </p:nvSpPr>
        <p:spPr>
          <a:xfrm>
            <a:off x="457200" y="2500000"/>
            <a:ext cx="82296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5D5B2"/>
                </a:solidFill>
                <a:latin typeface="Calibri" pitchFamily="34" charset="0"/>
              </a:rPr>
              <a:t>VIT Chennai</a:t>
            </a:r>
          </a:p>
        </p:txBody>
      </p:sp>
      <p:sp>
        <p:nvSpPr>
          <p:cNvPr id="17" name="Footer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</a:rPr>
              <a:t>Campus Sustainability Policy Simulation Engine  |  SDG Digital Twin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Sustainability Policy Simulation Engine</dc:title>
  <dc:subject>PptxGenJS Presentation</dc:subject>
  <dc:creator>PptxGenJS</dc:creator>
  <cp:lastModifiedBy>PptxGenJS</cp:lastModifiedBy>
  <cp:revision>1</cp:revision>
  <dcterms:created xsi:type="dcterms:W3CDTF">2026-02-26T08:01:39Z</dcterms:created>
  <dcterms:modified xsi:type="dcterms:W3CDTF">2026-02-26T08:01:39Z</dcterms:modified>
</cp:coreProperties>
</file>